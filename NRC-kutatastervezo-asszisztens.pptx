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Átlagos relevancia-pontszám</c:v>
                </c:pt>
              </c:strCache>
            </c:strRef>
          </c:tx>
          <c:spPr>
            <a:solidFill>
              <a:srgbClr val="19C894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2E3441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9C89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0C6BC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637899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CCD2E3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Erős pozitív</c:v>
                  </c:pt>
                  <c:pt idx="1">
                    <c:v>Gyenge pozitív</c:v>
                  </c:pt>
                  <c:pt idx="2">
                    <c:v>Negatív</c:v>
                  </c:pt>
                  <c:pt idx="3">
                    <c:v>Eszkalációs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0.666</c:v>
                </c:pt>
                <c:pt idx="1">
                  <c:v>0.64</c:v>
                </c:pt>
                <c:pt idx="2">
                  <c:v>0.053</c:v>
                </c:pt>
                <c:pt idx="3">
                  <c:v>0.002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100" u="none">
                  <a:solidFill>
                    <a:srgbClr val="2E3441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2E3441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</c:scaling>
        <c:delete val="0"/>
        <c:axPos val="l"/>
        <c:majorGridlines>
          <c:spPr>
            <a:ln w="12700" cap="flat">
              <a:solidFill>
                <a:srgbClr val="CCD2E3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3789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Nem új rendszert építettünk. A meglévő belső asszisztens kapott egy új bejáratot, amin az ügyfél jön be. Öt perc, három kérdésre válaszolok: mit csinál, mibe kerül, mit kockáztatunk.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Négy fájdalmat old meg a tízből. A negyedik a legfontosabb üzletileg: ma hetek mennek el az ajánlati körrel. És kimondjuk, mit nem old meg — ez nem szerénység, hanem az, hogy tudjuk, hol a határ.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Ez a lényeg: nem építettünk újat. Ugyanaz a RAG-pipeline fut, amit a kollégák hónapok óta használnak. Csak most kifelé is van egy ajtaja, és azon az ajtón egy emberi kapu van.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Ez a dia a legfontosabb az IT-biztonságnak. Négy külső hívás van egy kérdés mögött, mind az EU-n kívül. A tudásbázis viszont soha nem megy ki, csak az aktuális kérdés és a kiválasztott néhány bekezdés.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Erre a diára a legbüszkébb vagyok. Nem tippeltük meg a küszöböt. Lemértük, kétszer, és a két mérés között javítottunk. A negatív kérdések pontszáma ötödére esett — ez az, ami miatt merünk 0.3-nál vágni.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negyedik heti döntési pont a legfontosabb sor. Nem kérjük, hogy most mindent eldöntsenek. Négy hét múlva számokkal jövünk vissza, és akkor lehet nemet mondani, minden következmény nélkül.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 csak egy dolgot visznek el erről a diáról: négy metrika kifejezetten a rendszer hibáját méri. Aki csak a sikert méri, az három hónap múlva nem tudja megmagyarázni, miért nem működik.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Egy döntés kell ma: elindulhat-e a nyolchetes pilot. Nem kérünk fejlesztési keretet, mert a rendszer megvan. A negyedik héten számokkal jövünk vissza, és akkor lehet leállítani.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E34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03920" y="-1463040"/>
            <a:ext cx="5669280" cy="5669280"/>
          </a:xfrm>
          <a:prstGeom prst="ellipse">
            <a:avLst/>
          </a:prstGeom>
          <a:solidFill>
            <a:srgbClr val="19C894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966960" y="3108960"/>
            <a:ext cx="4023360" cy="4023360"/>
          </a:xfrm>
          <a:prstGeom prst="ellipse">
            <a:avLst/>
          </a:prstGeom>
          <a:solidFill>
            <a:srgbClr val="00C6BC">
              <a:alpha val="8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37160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19C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NRC · DÖNTÉSELŐKÉSZÍTŐ ANYAG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731520" y="1828800"/>
            <a:ext cx="78638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6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Kutatástervező asszisztens</a:t>
            </a:r>
            <a:endParaRPr lang="en-US" sz="4200" dirty="0"/>
          </a:p>
          <a:p>
            <a:pPr indent="0" marL="0">
              <a:lnSpc>
                <a:spcPts val="46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az ügyfeleinknek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731520" y="365760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C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belső AI-asszisztens ügyfélirányú kiterjesztése — működő PoC és business case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31520" y="4709160"/>
            <a:ext cx="2468880" cy="914400"/>
          </a:xfrm>
          <a:prstGeom prst="roundRect">
            <a:avLst>
              <a:gd name="adj" fmla="val 10000"/>
            </a:avLst>
          </a:prstGeom>
          <a:solidFill>
            <a:srgbClr val="FFFFFF">
              <a:alpha val="8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896112" y="4828032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9C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Egy folyamat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96112" y="512064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C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végigvitt esettel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429000" y="4709160"/>
            <a:ext cx="2468880" cy="914400"/>
          </a:xfrm>
          <a:prstGeom prst="roundRect">
            <a:avLst>
              <a:gd name="adj" fmla="val 10000"/>
            </a:avLst>
          </a:prstGeom>
          <a:solidFill>
            <a:srgbClr val="FFFFFF">
              <a:alpha val="8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3593592" y="4828032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9C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Egy emberi kapu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593592" y="512064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C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jóváhagyás nélkül nincs kimenet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126480" y="4709160"/>
            <a:ext cx="2468880" cy="914400"/>
          </a:xfrm>
          <a:prstGeom prst="roundRect">
            <a:avLst>
              <a:gd name="adj" fmla="val 10000"/>
            </a:avLst>
          </a:prstGeom>
          <a:solidFill>
            <a:srgbClr val="FFFFFF">
              <a:alpha val="8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6291072" y="4828032"/>
            <a:ext cx="2148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9C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Mért, nem ígért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291072" y="512064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C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kérdéses kalibráció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731520" y="61722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37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2026. augusztus · Készítette: fejlesztés · Folyamatgazda: kutatási vezető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9C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A PROBLÉMA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E3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Módszertani tanácsadást ma csak a nagyok kapnak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2606040" cy="2514600"/>
          </a:xfrm>
          <a:prstGeom prst="roundRect">
            <a:avLst>
              <a:gd name="adj" fmla="val 2909"/>
            </a:avLst>
          </a:prstGeom>
          <a:solidFill>
            <a:srgbClr val="F3F3F4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1691640"/>
            <a:ext cx="548640" cy="548640"/>
          </a:xfrm>
          <a:prstGeom prst="ellipse">
            <a:avLst/>
          </a:prstGeom>
          <a:solidFill>
            <a:srgbClr val="19C894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764792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77240" y="2377440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E3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Munkaidőn kívül</a:t>
            </a:r>
            <a:endParaRPr lang="en-US" sz="1450" dirty="0"/>
          </a:p>
          <a:p>
            <a:pPr indent="0" marL="0">
              <a:buNone/>
            </a:pPr>
            <a:r>
              <a:rPr lang="en-US" sz="1450" b="1" dirty="0">
                <a:solidFill>
                  <a:srgbClr val="2E3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nincs válasz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777240" y="3127248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37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 ügyfél este dönt, mi reggel válaszolunk.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401568" y="1463040"/>
            <a:ext cx="2606040" cy="2514600"/>
          </a:xfrm>
          <a:prstGeom prst="roundRect">
            <a:avLst>
              <a:gd name="adj" fmla="val 2909"/>
            </a:avLst>
          </a:prstGeom>
          <a:solidFill>
            <a:srgbClr val="F3F3F4"/>
          </a:solidFill>
          <a:ln/>
        </p:spPr>
      </p:sp>
      <p:sp>
        <p:nvSpPr>
          <p:cNvPr id="10" name="Shape 8"/>
          <p:cNvSpPr/>
          <p:nvPr/>
        </p:nvSpPr>
        <p:spPr>
          <a:xfrm>
            <a:off x="3630168" y="1691640"/>
            <a:ext cx="548640" cy="548640"/>
          </a:xfrm>
          <a:prstGeom prst="ellipse">
            <a:avLst/>
          </a:prstGeom>
          <a:solidFill>
            <a:srgbClr val="0B62A0"/>
          </a:solidFill>
          <a:ln/>
        </p:spPr>
      </p:sp>
      <p:sp>
        <p:nvSpPr>
          <p:cNvPr id="11" name="Text 9"/>
          <p:cNvSpPr/>
          <p:nvPr/>
        </p:nvSpPr>
        <p:spPr>
          <a:xfrm>
            <a:off x="3630168" y="1764792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630168" y="2377440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E3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Ugyanazt magyarázzuk</a:t>
            </a:r>
            <a:endParaRPr lang="en-US" sz="1450" dirty="0"/>
          </a:p>
          <a:p>
            <a:pPr indent="0" marL="0">
              <a:buNone/>
            </a:pPr>
            <a:r>
              <a:rPr lang="en-US" sz="1450" b="1" dirty="0">
                <a:solidFill>
                  <a:srgbClr val="2E3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naponta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3630168" y="3127248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37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kutatási vezető ideje a húsz visszatérő kérdésre megy el.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254496" y="1463040"/>
            <a:ext cx="2606040" cy="2514600"/>
          </a:xfrm>
          <a:prstGeom prst="roundRect">
            <a:avLst>
              <a:gd name="adj" fmla="val 2909"/>
            </a:avLst>
          </a:prstGeom>
          <a:solidFill>
            <a:srgbClr val="F3F3F4"/>
          </a:solidFill>
          <a:ln/>
        </p:spPr>
      </p:sp>
      <p:sp>
        <p:nvSpPr>
          <p:cNvPr id="15" name="Shape 13"/>
          <p:cNvSpPr/>
          <p:nvPr/>
        </p:nvSpPr>
        <p:spPr>
          <a:xfrm>
            <a:off x="6483096" y="1691640"/>
            <a:ext cx="548640" cy="548640"/>
          </a:xfrm>
          <a:prstGeom prst="ellipse">
            <a:avLst/>
          </a:prstGeom>
          <a:solidFill>
            <a:srgbClr val="00C6BC"/>
          </a:solidFill>
          <a:ln/>
        </p:spPr>
      </p:sp>
      <p:sp>
        <p:nvSpPr>
          <p:cNvPr id="16" name="Text 14"/>
          <p:cNvSpPr/>
          <p:nvPr/>
        </p:nvSpPr>
        <p:spPr>
          <a:xfrm>
            <a:off x="6483096" y="1764792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6483096" y="2377440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E3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Személyre szabás</a:t>
            </a:r>
            <a:endParaRPr lang="en-US" sz="1450" dirty="0"/>
          </a:p>
          <a:p>
            <a:pPr indent="0" marL="0">
              <a:buNone/>
            </a:pPr>
            <a:r>
              <a:rPr lang="en-US" sz="1450" b="1" dirty="0">
                <a:solidFill>
                  <a:srgbClr val="2E3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csak a nagyoknak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6483096" y="3127248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37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kis megbízó árlistát kap, nem konzultációt.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9107424" y="1463040"/>
            <a:ext cx="2606040" cy="2514600"/>
          </a:xfrm>
          <a:prstGeom prst="roundRect">
            <a:avLst>
              <a:gd name="adj" fmla="val 2909"/>
            </a:avLst>
          </a:prstGeom>
          <a:solidFill>
            <a:srgbClr val="F3F3F4"/>
          </a:solidFill>
          <a:ln/>
        </p:spPr>
      </p:sp>
      <p:sp>
        <p:nvSpPr>
          <p:cNvPr id="20" name="Shape 18"/>
          <p:cNvSpPr/>
          <p:nvPr/>
        </p:nvSpPr>
        <p:spPr>
          <a:xfrm>
            <a:off x="9336024" y="1691640"/>
            <a:ext cx="548640" cy="548640"/>
          </a:xfrm>
          <a:prstGeom prst="ellipse">
            <a:avLst/>
          </a:prstGeom>
          <a:solidFill>
            <a:srgbClr val="E86137"/>
          </a:solidFill>
          <a:ln/>
        </p:spPr>
      </p:sp>
      <p:sp>
        <p:nvSpPr>
          <p:cNvPr id="21" name="Text 19"/>
          <p:cNvSpPr/>
          <p:nvPr/>
        </p:nvSpPr>
        <p:spPr>
          <a:xfrm>
            <a:off x="9336024" y="1764792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9336024" y="2377440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E3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Hetekig tart</a:t>
            </a:r>
            <a:endParaRPr lang="en-US" sz="1450" dirty="0"/>
          </a:p>
          <a:p>
            <a:pPr indent="0" marL="0">
              <a:buNone/>
            </a:pPr>
            <a:r>
              <a:rPr lang="en-US" sz="1450" b="1" dirty="0">
                <a:solidFill>
                  <a:srgbClr val="2E3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 ajánlati kör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9336024" y="3127248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37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Oda-vissza egyeztetés, mire aláírható az ajánlat.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48640" y="4343400"/>
            <a:ext cx="11064240" cy="1325880"/>
          </a:xfrm>
          <a:prstGeom prst="roundRect">
            <a:avLst>
              <a:gd name="adj" fmla="val 5517"/>
            </a:avLst>
          </a:prstGeom>
          <a:solidFill>
            <a:srgbClr val="2E3441"/>
          </a:solidFill>
          <a:ln/>
        </p:spPr>
      </p:sp>
      <p:sp>
        <p:nvSpPr>
          <p:cNvPr id="25" name="Text 23"/>
          <p:cNvSpPr/>
          <p:nvPr/>
        </p:nvSpPr>
        <p:spPr>
          <a:xfrm>
            <a:off x="868680" y="45262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6C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Amit a rendszer NEM old meg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868680" y="4846320"/>
            <a:ext cx="10424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C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Ügystátusz-követés · sürgősségi triage · lemorzsolódás előrejelzése. Ezekhez CRM- és projektrendszer-integráció kell, ami nincs a scope-ban. A kérdések gyűjtéséből tanulunk, de az elemzésük emberi munka marad.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37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számok a cégvezetői fájdalomlista tételeire hivatkoznak.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9C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MA ÉS AZ ASSZISZTENSSEL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E3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Ugyanaz a motor, új bejárat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5440680" cy="3200400"/>
          </a:xfrm>
          <a:prstGeom prst="roundRect">
            <a:avLst>
              <a:gd name="adj" fmla="val 2286"/>
            </a:avLst>
          </a:prstGeom>
          <a:solidFill>
            <a:srgbClr val="F3F3F4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6002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637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68680" y="2011680"/>
            <a:ext cx="48463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2E3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 ügyfél e-mailben kérdez, vagy telefonál.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2E3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kutatási vezető kikeresi a módszertant, megírja a választ.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2E3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Ugyanaz a húsz kérdés ismétlődik.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2E3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Munkaidőn kívül nincs válasz.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2E3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kis megbízó egyen-élményt kap.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172200" y="1417320"/>
            <a:ext cx="5440680" cy="3200400"/>
          </a:xfrm>
          <a:prstGeom prst="roundRect">
            <a:avLst>
              <a:gd name="adj" fmla="val 2286"/>
            </a:avLst>
          </a:prstGeom>
          <a:solidFill>
            <a:srgbClr val="2E3441"/>
          </a:solidFill>
          <a:ln/>
        </p:spPr>
      </p:sp>
      <p:sp>
        <p:nvSpPr>
          <p:cNvPr id="8" name="Text 6"/>
          <p:cNvSpPr/>
          <p:nvPr/>
        </p:nvSpPr>
        <p:spPr>
          <a:xfrm>
            <a:off x="6492240" y="16002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19C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 ASSZISZTENSSEL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92240" y="2011680"/>
            <a:ext cx="48463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 ügyfél leírja az üzleti kérdését, bármikor.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 asszisztens módszertant javasol, forrásmegjelöléssel.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Listaáras terméknél indikatív árat is ad.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Bizonytalanság esetén nem találgat: embert hív.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kutatási vezető jóváhagyja, mielőtt kimegy.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548640" y="489204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9C89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nap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2423160" y="493776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37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omnibusz átfutás,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637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amit ma is tartunk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4297680" y="489204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9C89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0.3</a:t>
            </a:r>
            <a:endParaRPr lang="en-US" sz="3400" dirty="0"/>
          </a:p>
        </p:txBody>
      </p:sp>
      <p:sp>
        <p:nvSpPr>
          <p:cNvPr id="13" name="Text 11"/>
          <p:cNvSpPr/>
          <p:nvPr/>
        </p:nvSpPr>
        <p:spPr>
          <a:xfrm>
            <a:off x="6172200" y="493776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37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eszkalációs küszöb,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637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mért, nem becsült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8046720" y="489204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9C89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100%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9921240" y="493776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37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kimenet emberi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637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jóváhagyás után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37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tudásbázis, a keresőlánc és az eszközök változatlanok — a belső eszköz tovább működik mellette.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9C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ADATTÉRKÉP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E3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Egy kérdés útja: hova megy, mi marad nálunk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4846320" cy="3977640"/>
          </a:xfrm>
          <a:prstGeom prst="roundRect">
            <a:avLst>
              <a:gd name="adj" fmla="val 1839"/>
            </a:avLst>
          </a:prstGeom>
          <a:solidFill>
            <a:srgbClr val="F3F3F4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536192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19C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SAJÁT KÖRNYEZETÜNKBEN MARAD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822960" y="1975104"/>
            <a:ext cx="237744" cy="237744"/>
          </a:xfrm>
          <a:prstGeom prst="ellipse">
            <a:avLst/>
          </a:prstGeom>
          <a:solidFill>
            <a:srgbClr val="19C894"/>
          </a:solidFill>
          <a:ln/>
        </p:spPr>
      </p:sp>
      <p:sp>
        <p:nvSpPr>
          <p:cNvPr id="7" name="Text 5"/>
          <p:cNvSpPr/>
          <p:nvPr/>
        </p:nvSpPr>
        <p:spPr>
          <a:xfrm>
            <a:off x="1188720" y="1920240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3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Kérdés érkezik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188720" y="2167128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37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szabad szöveg az ügyféltől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822960" y="2633472"/>
            <a:ext cx="237744" cy="237744"/>
          </a:xfrm>
          <a:prstGeom prst="ellipse">
            <a:avLst/>
          </a:prstGeom>
          <a:solidFill>
            <a:srgbClr val="19C894"/>
          </a:solidFill>
          <a:ln/>
        </p:spPr>
      </p:sp>
      <p:sp>
        <p:nvSpPr>
          <p:cNvPr id="10" name="Text 8"/>
          <p:cNvSpPr/>
          <p:nvPr/>
        </p:nvSpPr>
        <p:spPr>
          <a:xfrm>
            <a:off x="1188720" y="2578608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3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PII-maszkolás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188720" y="2825496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37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e-mail, telefon, adószám, TAJ, bankszámla → pszeudonim token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822960" y="3291840"/>
            <a:ext cx="237744" cy="237744"/>
          </a:xfrm>
          <a:prstGeom prst="ellipse">
            <a:avLst/>
          </a:prstGeom>
          <a:solidFill>
            <a:srgbClr val="19C894"/>
          </a:solidFill>
          <a:ln/>
        </p:spPr>
      </p:sp>
      <p:sp>
        <p:nvSpPr>
          <p:cNvPr id="13" name="Text 11"/>
          <p:cNvSpPr/>
          <p:nvPr/>
        </p:nvSpPr>
        <p:spPr>
          <a:xfrm>
            <a:off x="1188720" y="3236976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3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Vektorindex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188720" y="3483864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37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+ pgvector, a teljes tudásbázis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822960" y="3950208"/>
            <a:ext cx="237744" cy="237744"/>
          </a:xfrm>
          <a:prstGeom prst="ellipse">
            <a:avLst/>
          </a:prstGeom>
          <a:solidFill>
            <a:srgbClr val="19C894"/>
          </a:solidFill>
          <a:ln/>
        </p:spPr>
      </p:sp>
      <p:sp>
        <p:nvSpPr>
          <p:cNvPr id="16" name="Text 14"/>
          <p:cNvSpPr/>
          <p:nvPr/>
        </p:nvSpPr>
        <p:spPr>
          <a:xfrm>
            <a:off x="1188720" y="3895344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3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Futásnapló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188720" y="4142232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37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run_log tábla: maszkolt kérdés, forrás, score, döntés, jóváhagyó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822960" y="4608576"/>
            <a:ext cx="237744" cy="237744"/>
          </a:xfrm>
          <a:prstGeom prst="ellipse">
            <a:avLst/>
          </a:prstGeom>
          <a:solidFill>
            <a:srgbClr val="19C894"/>
          </a:solidFill>
          <a:ln/>
        </p:spPr>
      </p:sp>
      <p:sp>
        <p:nvSpPr>
          <p:cNvPr id="19" name="Text 17"/>
          <p:cNvSpPr/>
          <p:nvPr/>
        </p:nvSpPr>
        <p:spPr>
          <a:xfrm>
            <a:off x="1188720" y="4553712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3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Jóváhagyási kapu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188720" y="4800600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37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kimenet emberi döntésig áll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623560" y="1371600"/>
            <a:ext cx="5989320" cy="3977640"/>
          </a:xfrm>
          <a:prstGeom prst="roundRect">
            <a:avLst>
              <a:gd name="adj" fmla="val 1839"/>
            </a:avLst>
          </a:prstGeom>
          <a:solidFill>
            <a:srgbClr val="2E3441"/>
          </a:solidFill>
          <a:ln/>
        </p:spPr>
      </p:sp>
      <p:sp>
        <p:nvSpPr>
          <p:cNvPr id="22" name="Text 20"/>
          <p:cNvSpPr/>
          <p:nvPr/>
        </p:nvSpPr>
        <p:spPr>
          <a:xfrm>
            <a:off x="5897880" y="153619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E6C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AMI ELHAGYJA A KÖRNYEZETÜNKET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5897880" y="1920240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 · Claude Haiku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5897880" y="2167128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C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hipotézisgenerálás — a maszkolt kérdés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10607040" y="1938528"/>
            <a:ext cx="777240" cy="292608"/>
          </a:xfrm>
          <a:prstGeom prst="roundRect">
            <a:avLst>
              <a:gd name="adj" fmla="val 18750"/>
            </a:avLst>
          </a:prstGeom>
          <a:solidFill>
            <a:srgbClr val="FFFFFF">
              <a:alpha val="15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10607040" y="1965960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6C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5897880" y="2633472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· embedding-3-small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5897880" y="288036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C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hipotézis szövege vektorrá alakítva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10607040" y="2651760"/>
            <a:ext cx="777240" cy="292608"/>
          </a:xfrm>
          <a:prstGeom prst="roundRect">
            <a:avLst>
              <a:gd name="adj" fmla="val 18750"/>
            </a:avLst>
          </a:prstGeom>
          <a:solidFill>
            <a:srgbClr val="FFFFFF">
              <a:alpha val="15000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10607040" y="2679192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6C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5897880" y="3346704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Cohere · rerank-multilingual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5897880" y="3593592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C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kérdés + a jelölt szövegrészletek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10607040" y="3364992"/>
            <a:ext cx="777240" cy="292608"/>
          </a:xfrm>
          <a:prstGeom prst="roundRect">
            <a:avLst>
              <a:gd name="adj" fmla="val 18750"/>
            </a:avLst>
          </a:prstGeom>
          <a:solidFill>
            <a:srgbClr val="FFFFFF">
              <a:alpha val="15000"/>
            </a:srgbClr>
          </a:solidFill>
          <a:ln/>
        </p:spPr>
      </p:sp>
      <p:sp>
        <p:nvSpPr>
          <p:cNvPr id="34" name="Text 32"/>
          <p:cNvSpPr/>
          <p:nvPr/>
        </p:nvSpPr>
        <p:spPr>
          <a:xfrm>
            <a:off x="10607040" y="3392424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6C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5897880" y="4059936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 · Claude Sonnet</a:t>
            </a:r>
            <a:endParaRPr lang="en-US" sz="1250" dirty="0"/>
          </a:p>
        </p:txBody>
      </p:sp>
      <p:sp>
        <p:nvSpPr>
          <p:cNvPr id="36" name="Text 34"/>
          <p:cNvSpPr/>
          <p:nvPr/>
        </p:nvSpPr>
        <p:spPr>
          <a:xfrm>
            <a:off x="5897880" y="4306824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C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kérdés + a kiválasztott részletek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10607040" y="4078224"/>
            <a:ext cx="777240" cy="292608"/>
          </a:xfrm>
          <a:prstGeom prst="roundRect">
            <a:avLst>
              <a:gd name="adj" fmla="val 18750"/>
            </a:avLst>
          </a:prstGeom>
          <a:solidFill>
            <a:srgbClr val="FFFFFF">
              <a:alpha val="15000"/>
            </a:srgbClr>
          </a:solidFill>
          <a:ln/>
        </p:spPr>
      </p:sp>
      <p:sp>
        <p:nvSpPr>
          <p:cNvPr id="38" name="Text 36"/>
          <p:cNvSpPr/>
          <p:nvPr/>
        </p:nvSpPr>
        <p:spPr>
          <a:xfrm>
            <a:off x="10607040" y="4105656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E6C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5897880" y="484632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E6C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Amit soha nem küldünk ki: a teljes tudásbázist, a futásnaplót, maszkolatlan személyes adatot. A modellek nem tanulnak az adatainkból.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37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Négy külső hívás kérdésenként, mind EU-n kívül — a szerződéses lefedettség a jogi csapat feladata.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9C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MÉRT EREDMÉNY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E3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küszöböt megmértük, nem megbecsültük</a:t>
            </a:r>
            <a:endParaRPr lang="en-US" sz="3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417320"/>
          <a:ext cx="585216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6675120" y="146304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9C89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9×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6675120" y="1938528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37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ennyivel nőtt a biztonságos eszkalációs sáv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6675120" y="256032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B62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0.53 → 0.11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6675120" y="3035808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37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téves találatok legmagasabb pontszáma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6675120" y="365760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63789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</a:t>
            </a:r>
            <a:endParaRPr lang="en-US" sz="2600" dirty="0"/>
          </a:p>
        </p:txBody>
      </p:sp>
      <p:sp>
        <p:nvSpPr>
          <p:cNvPr id="10" name="Text 7"/>
          <p:cNvSpPr/>
          <p:nvPr/>
        </p:nvSpPr>
        <p:spPr>
          <a:xfrm>
            <a:off x="6675120" y="4133088"/>
            <a:ext cx="4937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37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kalibrációs kérdés, két mérési körben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6675120" y="4709160"/>
            <a:ext cx="4937760" cy="1234440"/>
          </a:xfrm>
          <a:prstGeom prst="roundRect">
            <a:avLst>
              <a:gd name="adj" fmla="val 5926"/>
            </a:avLst>
          </a:prstGeom>
          <a:solidFill>
            <a:srgbClr val="F3F3F4"/>
          </a:solidFill>
          <a:ln/>
        </p:spPr>
      </p:sp>
      <p:sp>
        <p:nvSpPr>
          <p:cNvPr id="12" name="Text 9"/>
          <p:cNvSpPr/>
          <p:nvPr/>
        </p:nvSpPr>
        <p:spPr>
          <a:xfrm>
            <a:off x="6903720" y="48463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6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Amit a mérés nem mutat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6903720" y="5138928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E3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Két ténykérdésre ma feleslegesen eszkalál. Kényelmetlen, de nem veszélyes — magabiztos rossz válasz egy sem volt.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548640" y="47548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19C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MÉRT ADAT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548640" y="5029200"/>
            <a:ext cx="5760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E3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Két beavatkozás a két kör között: a hipotézis-generálás fogalmi kontextust kapott, és a tudásbázisból kiszűrtük a fejlesztési tartalmat.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37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Forrás: saját kalibrációs mérés a PoC-on, 24 kérdés, 2026. augusztus. Mért adat.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9C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ROLLOUT TERV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E3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Nem ígéret, hanem menetrend visszalépési ponttal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1417320" cy="914400"/>
          </a:xfrm>
          <a:prstGeom prst="roundRect">
            <a:avLst>
              <a:gd name="adj" fmla="val 8000"/>
            </a:avLst>
          </a:prstGeom>
          <a:solidFill>
            <a:srgbClr val="19C894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709928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3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1-2. hét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2148840" y="149047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3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indul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2148840" y="1828800"/>
            <a:ext cx="9326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37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3-5 megbízó, csak omnibusz-kérdésekre szűkítve. Minden válasz jóváhagyással megy ki. Párhuzamosan fut a mai e-mailes út.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2532888"/>
            <a:ext cx="1417320" cy="914400"/>
          </a:xfrm>
          <a:prstGeom prst="roundRect">
            <a:avLst>
              <a:gd name="adj" fmla="val 8000"/>
            </a:avLst>
          </a:prstGeom>
          <a:solidFill>
            <a:srgbClr val="E6CC8C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825496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3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hét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148840" y="26060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3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Döntési pont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2148840" y="2944368"/>
            <a:ext cx="9326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37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Bővítünk vagy visszaveszünk. Feltétel: eszkalációs arány 40% alatt, szerkesztési arány 30% alatt, elutasítás 10% alatt.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3648456"/>
            <a:ext cx="1417320" cy="914400"/>
          </a:xfrm>
          <a:prstGeom prst="roundRect">
            <a:avLst>
              <a:gd name="adj" fmla="val 8000"/>
            </a:avLst>
          </a:prstGeom>
          <a:solidFill>
            <a:srgbClr val="0B62A0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3941064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hónap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148840" y="372160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3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Teljes szolgáltatáskör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2148840" y="4059936"/>
            <a:ext cx="9326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37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 a küszöbök teljesülnek: minden módszertani kérdés, eljárásrend átírva, gazda kijelölve.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4764024"/>
            <a:ext cx="1417320" cy="914400"/>
          </a:xfrm>
          <a:prstGeom prst="roundRect">
            <a:avLst>
              <a:gd name="adj" fmla="val 8000"/>
            </a:avLst>
          </a:prstGeom>
          <a:solidFill>
            <a:srgbClr val="637899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5056632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hónap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2148840" y="4837176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3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Riport a vezetőségnek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2148840" y="5175504"/>
            <a:ext cx="9326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37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 első mért baseline-adatok. Innen dől el, megy-e a második use case.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5806440"/>
            <a:ext cx="11064240" cy="502920"/>
          </a:xfrm>
          <a:prstGeom prst="roundRect">
            <a:avLst>
              <a:gd name="adj" fmla="val 14545"/>
            </a:avLst>
          </a:prstGeom>
          <a:solidFill>
            <a:srgbClr val="2E3441"/>
          </a:solidFill>
          <a:ln/>
        </p:spPr>
      </p:sp>
      <p:sp>
        <p:nvSpPr>
          <p:cNvPr id="21" name="Text 19"/>
          <p:cNvSpPr/>
          <p:nvPr/>
        </p:nvSpPr>
        <p:spPr>
          <a:xfrm>
            <a:off x="822960" y="5916168"/>
            <a:ext cx="10515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Gazda a go-live után: a kutatási vezető — ő kezeli a jóváhagyási kaput, és ő kapja a heti riportot. A gazda és a jóváhagyó tudatosan ugyanaz a szerep.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9C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MÉRÉSI TERV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2E34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Honnan fogjuk tudni, hogy működik</a:t>
            </a:r>
            <a:endParaRPr lang="en-US" sz="34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17320"/>
          <a:ext cx="11064240" cy="914400"/>
        </p:xfrm>
        <a:graphic>
          <a:graphicData uri="http://schemas.openxmlformats.org/drawingml/2006/table">
            <a:tbl>
              <a:tblPr/>
              <a:tblGrid>
                <a:gridCol w="3657600"/>
                <a:gridCol w="3657600"/>
                <a:gridCol w="1737360"/>
                <a:gridCol w="201168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Mit mérünk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CC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4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Honnan lesz adat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CC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4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Riport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CC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44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Kinek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CC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344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E34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Válaszidő az ügyfél felé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CC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E34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futásnapló időbélyege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CC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E34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heti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CC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E34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folyamatgazda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CC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E34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Agenttel lezárt kérdések aránya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CC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E34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futásnapló kimenet-mezője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CC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E34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heti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CC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E34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folyamatgazda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CC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E34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Eszkalációs arány és okai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CC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E34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az emberi kapu számlálója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CC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E34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heti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CC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E34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folyamatgazda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CC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E34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Szerkesztés mértéke jóváhagyáskor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CC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E34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szerkesztési távolság a naplóban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CC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E34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havi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CC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E34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szponzor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CC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E34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Elutasított javaslatok aránya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CC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E34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jóváhagyási állapot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CC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E34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havi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CC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E34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szponzor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CC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E34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Retrieval-minőség regressziója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CC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E34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kalibrációs készlet újrafuttatva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CC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E34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kiadás előtt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CC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E34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fejlesztés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3152" marR="73152" marT="73152" marB="73152" anchor="ctr">
                    <a:lnL w="12700" cap="flat" cmpd="sng" algn="ctr">
                      <a:solidFill>
                        <a:srgbClr val="CC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D2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4526280"/>
            <a:ext cx="274320" cy="274320"/>
          </a:xfrm>
          <a:prstGeom prst="ellipse">
            <a:avLst/>
          </a:prstGeom>
          <a:solidFill>
            <a:srgbClr val="E86137"/>
          </a:solidFill>
          <a:ln/>
        </p:spPr>
      </p:sp>
      <p:sp>
        <p:nvSpPr>
          <p:cNvPr id="6" name="Text 3"/>
          <p:cNvSpPr/>
          <p:nvPr/>
        </p:nvSpPr>
        <p:spPr>
          <a:xfrm>
            <a:off x="932688" y="450799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3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Négy metrika a hibát méri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548640" y="4892040"/>
            <a:ext cx="3520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37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nem csak a sikert — az eszkaláció, a szerkesztés, az elutasítás és a regresszió mind gyengeséget mutat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4297680" y="4526280"/>
            <a:ext cx="274320" cy="274320"/>
          </a:xfrm>
          <a:prstGeom prst="ellipse">
            <a:avLst/>
          </a:prstGeom>
          <a:solidFill>
            <a:srgbClr val="0B62A0"/>
          </a:solidFill>
          <a:ln/>
        </p:spPr>
      </p:sp>
      <p:sp>
        <p:nvSpPr>
          <p:cNvPr id="9" name="Text 6"/>
          <p:cNvSpPr/>
          <p:nvPr/>
        </p:nvSpPr>
        <p:spPr>
          <a:xfrm>
            <a:off x="4681728" y="450799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3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Nincs baseline — ezért mérünk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4297680" y="4892040"/>
            <a:ext cx="3520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37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mai folyamat nincs mérve, a pilot első két hete egyben baseline-felvétel is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8046720" y="4526280"/>
            <a:ext cx="274320" cy="274320"/>
          </a:xfrm>
          <a:prstGeom prst="ellipse">
            <a:avLst/>
          </a:prstGeom>
          <a:solidFill>
            <a:srgbClr val="637899"/>
          </a:solidFill>
          <a:ln/>
        </p:spPr>
      </p:sp>
      <p:sp>
        <p:nvSpPr>
          <p:cNvPr id="12" name="Text 9"/>
          <p:cNvSpPr/>
          <p:nvPr/>
        </p:nvSpPr>
        <p:spPr>
          <a:xfrm>
            <a:off x="8430768" y="450799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E3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Amit ma még nem naplóz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8046720" y="4892040"/>
            <a:ext cx="3520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37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modellköltség és az ügyfélkör bontása — a teljes tábla a repóban jelzi, mennyi munka beépíteni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378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teljes, tizenkét soros mérési terv a repóban: meresi-terv.md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E34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291840"/>
            <a:ext cx="5943600" cy="5943600"/>
          </a:xfrm>
          <a:prstGeom prst="ellipse">
            <a:avLst/>
          </a:prstGeom>
          <a:solidFill>
            <a:srgbClr val="19C894">
              <a:alpha val="1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6459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9C8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MIT KÉRÜNK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4114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Egy döntés, nyolc hét, egy visszalépési pont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3520440" cy="1691640"/>
          </a:xfrm>
          <a:prstGeom prst="roundRect">
            <a:avLst>
              <a:gd name="adj" fmla="val 4324"/>
            </a:avLst>
          </a:prstGeom>
          <a:solidFill>
            <a:srgbClr val="FFFFFF">
              <a:alpha val="8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78308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9C89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3-5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822960" y="237744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C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megbízó a pilotba,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CC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omnibusz-kérdésekre szűkítve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297680" y="1600200"/>
            <a:ext cx="3520440" cy="1691640"/>
          </a:xfrm>
          <a:prstGeom prst="roundRect">
            <a:avLst>
              <a:gd name="adj" fmla="val 4324"/>
            </a:avLst>
          </a:prstGeom>
          <a:solidFill>
            <a:srgbClr val="FFFFFF">
              <a:alpha val="8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4572000" y="178308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9C89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heti 4 óra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4572000" y="237744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C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kutatási vezető idejéből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CC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jóváhagyási kapura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8046720" y="1600200"/>
            <a:ext cx="3520440" cy="1691640"/>
          </a:xfrm>
          <a:prstGeom prst="roundRect">
            <a:avLst>
              <a:gd name="adj" fmla="val 4324"/>
            </a:avLst>
          </a:prstGeom>
          <a:solidFill>
            <a:srgbClr val="FFFFFF">
              <a:alpha val="8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8321040" y="178308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9C89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 hét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8321040" y="2377440"/>
            <a:ext cx="3017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C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pilot, döntési ponttal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CCD2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negyedik héten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548640" y="36118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6C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Amit nem kérünk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48640" y="3977640"/>
            <a:ext cx="5669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Fejlesztési keretet: a rendszer megvan, a PoC fut.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Új felületet a kollégáknak: a mai folyamat érintetlen marad.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Elköteleződést a második fázisra — arról a 4. héten döntenek.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92240" y="3611880"/>
            <a:ext cx="5120640" cy="1737360"/>
          </a:xfrm>
          <a:prstGeom prst="roundRect">
            <a:avLst>
              <a:gd name="adj" fmla="val 4211"/>
            </a:avLst>
          </a:prstGeom>
          <a:solidFill>
            <a:srgbClr val="19C894"/>
          </a:solidFill>
          <a:ln/>
        </p:spPr>
      </p:sp>
      <p:sp>
        <p:nvSpPr>
          <p:cNvPr id="17" name="Text 15"/>
          <p:cNvSpPr/>
          <p:nvPr/>
        </p:nvSpPr>
        <p:spPr>
          <a:xfrm>
            <a:off x="6766560" y="37947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3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visszavehetőség percekben mérhető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766560" y="4160520"/>
            <a:ext cx="45720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E34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belépőpont leállítható, a mögötte lévő tudásbázis és a belső eszköz érintetlen marad. Nincs olyan folyamat, ami a rendszer nélkül megállna — a mai kézi út végig párhuzamosan fut.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548640" y="576072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E6CC8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kérdés nem az, hogy működik-e a technológia. Az, hogy rá lehet-e bízni az ügyfeleinket — ezért van minden kimeneten emberi kapu.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2026-08-19T15:28:18Z</dcterms:created>
  <dcterms:modified xsi:type="dcterms:W3CDTF">2026-08-19T15:28:18Z</dcterms:modified>
</cp:coreProperties>
</file>